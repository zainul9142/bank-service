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05840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t>BANKING IDENTITY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BANK NUMBERSHIELD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DAEC9"/>
                </a:solidFill>
                <a:latin typeface="Aptos"/>
              </a:defRPr>
            </a:pPr>
            <a:r>
              <a:t>A real-time defense layer against recycled-SIM account takeover.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DAEC9"/>
                </a:solidFill>
                <a:latin typeface="Aptos"/>
              </a:defRPr>
            </a:pPr>
            <a:r>
              <a:t>01  / 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76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5F8FF"/>
                </a:solidFill>
                <a:latin typeface="Aptos"/>
              </a:defRPr>
            </a:pPr>
            <a:r>
              <a:t>THE NUMBER CHANGES.</a:t>
            </a:r>
            <a:br/>
            <a:r>
              <a:t>THE RISK SHOULD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40156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DAEC9"/>
                </a:solidFill>
                <a:latin typeface="Aptos"/>
              </a:defRPr>
            </a:pPr>
            <a:r>
              <a:t>Automatically detect telecom number reallocation, isolate risky banking access, and guide the customer back to a verified identity.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17720"/>
            <a:ext cx="1965960" cy="310896"/>
          </a:xfrm>
          <a:prstGeom prst="round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&lt; 60 MIN RESPONSE SLA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4617720"/>
            <a:ext cx="1417320" cy="310896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EVENT-DRIVEN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4617720"/>
            <a:ext cx="1783080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CUSTOMER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783080"/>
            <a:ext cx="3566160" cy="3886200"/>
          </a:xfrm>
          <a:prstGeom prst="roundRect">
            <a:avLst/>
          </a:prstGeom>
          <a:solidFill>
            <a:srgbClr val="172641"/>
          </a:solidFill>
          <a:ln>
            <a:solidFill>
              <a:srgbClr val="17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47888" y="2240280"/>
            <a:ext cx="1965960" cy="2926080"/>
          </a:xfrm>
          <a:prstGeom prst="roundRect">
            <a:avLst/>
          </a:prstGeom>
          <a:solidFill>
            <a:srgbClr val="080F1E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5146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D4BF"/>
                </a:solidFill>
                <a:latin typeface="Aptos"/>
              </a:defRPr>
            </a:pPr>
            <a:r>
              <a:t>BANK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9718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8FF"/>
                </a:solidFill>
                <a:latin typeface="Aptos"/>
              </a:defRPr>
            </a:pPr>
            <a:r>
              <a:t>••••  4821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566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DAEC9"/>
                </a:solidFill>
                <a:latin typeface="Aptos"/>
              </a:defRPr>
            </a:pPr>
            <a:r>
              <a:t>OTP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416052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Aptos"/>
              </a:defRPr>
            </a:pPr>
            <a:r>
              <a:t>✓ PROTECTED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54406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Aptos"/>
              </a:defRPr>
            </a:pPr>
            <a:r>
              <a:t>SIM REASSIGNED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53949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F8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5792" y="5440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DD4BF"/>
                </a:solidFill>
                <a:latin typeface="Aptos"/>
              </a:defRPr>
            </a:pPr>
            <a:r>
              <a:t>SHIELD 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05840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t>THE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ONE NUMBER. THREE ATTACK SURFACES.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DAEC9"/>
                </a:solidFill>
                <a:latin typeface="Aptos"/>
              </a:defRPr>
            </a:pPr>
            <a:r>
              <a:t>A recycled number can become the bridge between telecom identity and banking identity.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DAEC9"/>
                </a:solidFill>
                <a:latin typeface="Aptos"/>
              </a:defRPr>
            </a:pPr>
            <a:r>
              <a:t>02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2057400" cy="1234440"/>
          </a:xfrm>
          <a:prstGeom prst="roundRect">
            <a:avLst/>
          </a:prstGeom>
          <a:solidFill>
            <a:srgbClr val="111C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585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Aptos"/>
              </a:defRPr>
            </a:pPr>
            <a:r>
              <a:t>TELCO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Number deactivated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24414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DAE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057400"/>
            <a:ext cx="2057400" cy="1234440"/>
          </a:xfrm>
          <a:prstGeom prst="roundRect">
            <a:avLst/>
          </a:prstGeom>
          <a:solidFill>
            <a:srgbClr val="111C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22585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Aptos"/>
              </a:defRPr>
            </a:pPr>
            <a:r>
              <a:t>RECYCLE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65176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Number reassigned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24414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DAE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057400"/>
            <a:ext cx="2057400" cy="1234440"/>
          </a:xfrm>
          <a:prstGeom prst="roundRect">
            <a:avLst/>
          </a:prstGeom>
          <a:solidFill>
            <a:srgbClr val="111C31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22585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C4899"/>
                </a:solidFill>
                <a:latin typeface="Aptos"/>
              </a:defRPr>
            </a:pPr>
            <a:r>
              <a:t>NEW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65176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Gets the SIM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4414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DAE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2057400"/>
            <a:ext cx="2057400" cy="1234440"/>
          </a:xfrm>
          <a:prstGeom prst="roundRect">
            <a:avLst/>
          </a:prstGeom>
          <a:solidFill>
            <a:srgbClr val="111C3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22585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7171"/>
                </a:solidFill>
                <a:latin typeface="Aptos"/>
              </a:defRPr>
            </a:pPr>
            <a:r>
              <a:t>BANK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65176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Receives OTP / alerts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3063240" cy="123444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9651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Aptos"/>
              </a:defRPr>
            </a:pPr>
            <a:r>
              <a:t>ACCOUNT TAKEOVER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988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t>Password reset + OTP exposure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3886200"/>
            <a:ext cx="3063240" cy="123444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409651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Aptos"/>
              </a:defRPr>
            </a:pPr>
            <a:r>
              <a:t>UPI / MOBILE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4988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t>Registered-number dependency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886200"/>
            <a:ext cx="3063240" cy="123444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409651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Aptos"/>
              </a:defRPr>
            </a:pPr>
            <a:r>
              <a:t>TRUST + 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44988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t>Fraud loss + investigation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05840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DETECT → ISOLATE → RECOVER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DAEC9"/>
                </a:solidFill>
                <a:latin typeface="Aptos"/>
              </a:defRPr>
            </a:pPr>
            <a:r>
              <a:t>NumberShield turns a silent identity change into an automated security event.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DAEC9"/>
                </a:solidFill>
                <a:latin typeface="Aptos"/>
              </a:defRPr>
            </a:pPr>
            <a:r>
              <a:t>03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1874519" cy="205740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331720"/>
            <a:ext cx="457200" cy="310896"/>
          </a:xfrm>
          <a:prstGeom prst="round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1012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DAEC9"/>
                </a:solidFill>
                <a:latin typeface="Aptos"/>
              </a:defRPr>
            </a:pPr>
            <a:r>
              <a:t>SIM reallocation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2" y="292608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D4B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148840"/>
            <a:ext cx="1874519" cy="205740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9232" y="2331720"/>
            <a:ext cx="457200" cy="310896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331012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DAEC9"/>
                </a:solidFill>
                <a:latin typeface="Aptos"/>
              </a:defRPr>
            </a:pPr>
            <a:r>
              <a:t>AI fraud velocity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92608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148840"/>
            <a:ext cx="1874519" cy="205740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85231" y="2331720"/>
            <a:ext cx="457200" cy="310896"/>
          </a:xfrm>
          <a:prstGeom prst="round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1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Isolate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331012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DAEC9"/>
                </a:solidFill>
                <a:latin typeface="Aptos"/>
              </a:defRPr>
            </a:pPr>
            <a:r>
              <a:t>OTP / UPI / card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292608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717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148840"/>
            <a:ext cx="1874519" cy="205740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71231" y="2331720"/>
            <a:ext cx="457200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1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Recover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331012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DAEC9"/>
                </a:solidFill>
                <a:latin typeface="Aptos"/>
              </a:defRPr>
            </a:pPr>
            <a:r>
              <a:t>Verified alternate 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292608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2148840"/>
            <a:ext cx="1874519" cy="205740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57232" y="2331720"/>
            <a:ext cx="457200" cy="310896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Restore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7232" y="331012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DAEC9"/>
                </a:solidFill>
                <a:latin typeface="Aptos"/>
              </a:defRPr>
            </a:pPr>
            <a:r>
              <a:t>Re-register + audit trail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754880"/>
            <a:ext cx="10607040" cy="658368"/>
          </a:xfrm>
          <a:prstGeom prst="roundRect">
            <a:avLst/>
          </a:prstGeom>
          <a:solidFill>
            <a:srgbClr val="172641"/>
          </a:solidFill>
          <a:ln>
            <a:solidFill>
              <a:srgbClr val="17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9377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t>CORE PROMISE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85546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Stop sending trust signals to a number that no longer belongs to the customer.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05840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TWO PORTALS. ONE SECURITY ENGINE.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DAEC9"/>
                </a:solidFill>
                <a:latin typeface="Aptos"/>
              </a:defRPr>
            </a:pPr>
            <a:r>
              <a:t>Operations teams see the queue. Customers see a short, controlled recovery journey.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DAEC9"/>
                </a:solidFill>
                <a:latin typeface="Aptos"/>
              </a:defRPr>
            </a:pPr>
            <a:r>
              <a:t>04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377440"/>
            <a:ext cx="3657600" cy="1143000"/>
          </a:xfrm>
          <a:prstGeom prst="roundRect">
            <a:avLst/>
          </a:prstGeom>
          <a:solidFill>
            <a:srgbClr val="172641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5786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DD4BF"/>
                </a:solidFill>
                <a:latin typeface="Aptos"/>
              </a:defRPr>
            </a:pPr>
            <a:r>
              <a:t>NUMBER SHIELD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992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DAEC9"/>
                </a:solidFill>
                <a:latin typeface="Aptos"/>
              </a:defRPr>
            </a:pPr>
            <a:r>
              <a:t>Event bus  •  Risk engine  •  Policy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2926080" cy="347472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331720"/>
            <a:ext cx="914400" cy="310896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BANK STAFF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88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OPERATIONS CONSOLE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DAEC9"/>
                </a:solidFill>
                <a:latin typeface="Aptos"/>
              </a:defRPr>
            </a:pPr>
            <a:r>
              <a:t>• Live recycling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DAEC9"/>
                </a:solidFill>
                <a:latin typeface="Aptos"/>
              </a:defRPr>
            </a:pPr>
            <a:r>
              <a:t>• RBAC + manual override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DAEC9"/>
                </a:solidFill>
                <a:latin typeface="Aptos"/>
              </a:defRPr>
            </a:pPr>
            <a:r>
              <a:t>• Risk &amp; resolution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DAEC9"/>
                </a:solidFill>
                <a:latin typeface="Aptos"/>
              </a:defRPr>
            </a:pPr>
            <a:r>
              <a:t>• CSAT / prevention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2057400"/>
            <a:ext cx="2926080" cy="347472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0" y="2331720"/>
            <a:ext cx="914400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788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RECOVERY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DAEC9"/>
                </a:solidFill>
                <a:latin typeface="Aptos"/>
              </a:defRPr>
            </a:pPr>
            <a:r>
              <a:t>• 15-min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DAEC9"/>
                </a:solidFill>
                <a:latin typeface="Aptos"/>
              </a:defRPr>
            </a:pPr>
            <a:r>
              <a:t>• Verify alternate contact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DAEC9"/>
                </a:solidFill>
                <a:latin typeface="Aptos"/>
              </a:defRPr>
            </a:pPr>
            <a:r>
              <a:t>• Re-register number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DAEC9"/>
                </a:solidFill>
                <a:latin typeface="Aptos"/>
              </a:defRPr>
            </a:pPr>
            <a:r>
              <a:t>• Unblock / freeze 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74320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DD4BF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274320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DD4BF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7091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DAEC9"/>
                </a:solidFill>
                <a:latin typeface="Aptos"/>
              </a:defRPr>
            </a:pPr>
            <a:r>
              <a:t>TELCO / IDENTITY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05840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API-FIRST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DAEC9"/>
                </a:solidFill>
                <a:latin typeface="Aptos"/>
              </a:defRPr>
            </a:pPr>
            <a:r>
              <a:t>Designed as a thin, auditable security layer over existing banking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DAEC9"/>
                </a:solidFill>
                <a:latin typeface="Aptos"/>
              </a:defRPr>
            </a:pPr>
            <a:r>
              <a:t>05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3337560" cy="96012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2176272"/>
            <a:ext cx="594360" cy="310896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219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F"/>
                </a:solidFill>
                <a:latin typeface="Aptos"/>
              </a:defRPr>
            </a:pPr>
            <a:r>
              <a:t>/auth/employee-login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EC9"/>
                </a:solidFill>
                <a:latin typeface="Aptos"/>
              </a:defRPr>
            </a:pPr>
            <a:r>
              <a:t>Staff authentication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11680"/>
            <a:ext cx="3337560" cy="96012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07992" y="2176272"/>
            <a:ext cx="594360" cy="310896"/>
          </a:xfrm>
          <a:prstGeom prst="round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219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F"/>
                </a:solidFill>
                <a:latin typeface="Aptos"/>
              </a:defRPr>
            </a:pPr>
            <a:r>
              <a:t>/sim-events/feed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060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EC9"/>
                </a:solidFill>
                <a:latin typeface="Aptos"/>
              </a:defRPr>
            </a:pPr>
            <a:r>
              <a:t>Live event stream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011680"/>
            <a:ext cx="3337560" cy="96012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57031" y="2176272"/>
            <a:ext cx="594360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22219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F"/>
                </a:solidFill>
                <a:latin typeface="Aptos"/>
              </a:defRPr>
            </a:pPr>
            <a:r>
              <a:t>/sim-events/trigger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6060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EC9"/>
                </a:solidFill>
                <a:latin typeface="Aptos"/>
              </a:defRPr>
            </a:pPr>
            <a:r>
              <a:t>Telecom webhook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246120"/>
            <a:ext cx="3337560" cy="96012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" y="3410712"/>
            <a:ext cx="594360" cy="310896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564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F"/>
                </a:solidFill>
                <a:latin typeface="Aptos"/>
              </a:defRPr>
            </a:pPr>
            <a:r>
              <a:t>/account/reregister-number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404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EC9"/>
                </a:solidFill>
                <a:latin typeface="Aptos"/>
              </a:defRPr>
            </a:pPr>
            <a:r>
              <a:t>Customer recovery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246120"/>
            <a:ext cx="3337560" cy="96012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07992" y="3410712"/>
            <a:ext cx="594360" cy="310896"/>
          </a:xfrm>
          <a:prstGeom prst="round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4564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F"/>
                </a:solidFill>
                <a:latin typeface="Aptos"/>
              </a:defRPr>
            </a:pPr>
            <a:r>
              <a:t>/account/card-controls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8404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EC9"/>
                </a:solidFill>
                <a:latin typeface="Aptos"/>
              </a:defRPr>
            </a:pPr>
            <a:r>
              <a:t>Emergency card 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246120"/>
            <a:ext cx="3337560" cy="96012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57031" y="3410712"/>
            <a:ext cx="594360" cy="310896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34564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F"/>
                </a:solidFill>
                <a:latin typeface="Aptos"/>
              </a:defRPr>
            </a:pPr>
            <a:r>
              <a:t>/feedback/submit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38404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EC9"/>
                </a:solidFill>
                <a:latin typeface="Aptos"/>
              </a:defRPr>
            </a:pPr>
            <a:r>
              <a:t>Post-resolution CSAT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800600"/>
            <a:ext cx="10835640" cy="685800"/>
          </a:xfrm>
          <a:prstGeom prst="roundRect">
            <a:avLst/>
          </a:prstGeom>
          <a:solidFill>
            <a:srgbClr val="172641"/>
          </a:solidFill>
          <a:ln>
            <a:solidFill>
              <a:srgbClr val="17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9651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Aptos"/>
              </a:defRPr>
            </a:pPr>
            <a:r>
              <a:t>AES-256-GCM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96519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EC9"/>
                </a:solidFill>
                <a:latin typeface="Aptos"/>
              </a:defRPr>
            </a:pPr>
            <a:r>
              <a:t>Encryption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9651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ptos"/>
              </a:defRPr>
            </a:pPr>
            <a:r>
              <a:t>FPE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79" y="496519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EC9"/>
                </a:solidFill>
                <a:latin typeface="Aptos"/>
              </a:defRPr>
            </a:pPr>
            <a:r>
              <a:t>Tokenization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9651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ptos"/>
              </a:defRPr>
            </a:pPr>
            <a:r>
              <a:t>TLS 1.3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496519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EC9"/>
                </a:solidFill>
                <a:latin typeface="Aptos"/>
              </a:defRPr>
            </a:pPr>
            <a:r>
              <a:t>Transport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9651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Aptos"/>
              </a:defRPr>
            </a:pPr>
            <a:r>
              <a:t>Luhn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96519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EC9"/>
                </a:solidFill>
                <a:latin typeface="Aptos"/>
              </a:defRPr>
            </a:pPr>
            <a:r>
              <a:t>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05840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t>TRUST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COMPLIANCE IS A FEATURE, NOT A FOOTNOTE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DAEC9"/>
                </a:solidFill>
                <a:latin typeface="Aptos"/>
              </a:defRPr>
            </a:pPr>
            <a:r>
              <a:t>Build controls into the workflow so security decisions are explainable and auditable.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DAEC9"/>
                </a:solidFill>
                <a:latin typeface="Aptos"/>
              </a:defRPr>
            </a:pPr>
            <a:r>
              <a:t>06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2423160" cy="196596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2468880"/>
            <a:ext cx="530352" cy="53035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578608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F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963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t>RBI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DAEC9"/>
                </a:solidFill>
                <a:latin typeface="Aptos"/>
              </a:defRPr>
            </a:pPr>
            <a:r>
              <a:t>Cyber-security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40280"/>
            <a:ext cx="2423160" cy="196596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93592" y="2468880"/>
            <a:ext cx="530352" cy="530352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2578608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F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963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t>PCI DSS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7355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DAEC9"/>
                </a:solidFill>
                <a:latin typeface="Aptos"/>
              </a:defRPr>
            </a:pPr>
            <a:r>
              <a:t>Tokenized payment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40280"/>
            <a:ext cx="2423160" cy="196596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2512" y="2468880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578608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F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4963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t>UIDAI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7355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DAEC9"/>
                </a:solidFill>
                <a:latin typeface="Aptos"/>
              </a:defRPr>
            </a:pPr>
            <a:r>
              <a:t>Protected Aadhaar references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39" y="2240280"/>
            <a:ext cx="2423160" cy="196596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71431" y="2468880"/>
            <a:ext cx="530352" cy="530352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431" y="2578608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F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24963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t>DPDP / GDPR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39" y="327355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DAEC9"/>
                </a:solidFill>
                <a:latin typeface="Aptos"/>
              </a:defRPr>
            </a:pPr>
            <a:r>
              <a:t>Minimization + retention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617720"/>
            <a:ext cx="10652760" cy="822960"/>
          </a:xfrm>
          <a:prstGeom prst="roundRect">
            <a:avLst/>
          </a:prstGeom>
          <a:solidFill>
            <a:srgbClr val="172641"/>
          </a:solidFill>
          <a:ln>
            <a:solidFill>
              <a:srgbClr val="17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8280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t>CONTROL PRINCIPLE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4736592"/>
            <a:ext cx="8458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Use only authorized data, for a defined security purpose, with least-privilege access and a complete audit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05840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t>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THE BOARD SHOULD SEE FOUR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DAEC9"/>
                </a:solidFill>
                <a:latin typeface="Aptos"/>
              </a:defRPr>
            </a:pPr>
            <a:r>
              <a:t>A security product becomes a business product when the outcome is measurable.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DAEC9"/>
                </a:solidFill>
                <a:latin typeface="Aptos"/>
              </a:defRPr>
            </a:pPr>
            <a:r>
              <a:t>07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2468880" cy="192024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2331720"/>
            <a:ext cx="914400" cy="914400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5786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80F1E"/>
                </a:solidFill>
                <a:latin typeface="Aptos"/>
              </a:defRPr>
            </a:pPr>
            <a:r>
              <a:t>&lt; 42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DAEC9"/>
                </a:solidFill>
                <a:latin typeface="Aptos"/>
              </a:defRPr>
            </a:pPr>
            <a:r>
              <a:t>Avg. deregistration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2057400"/>
            <a:ext cx="2468880" cy="192024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60520" y="2331720"/>
            <a:ext cx="914400" cy="91440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25786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80F1E"/>
                </a:solidFill>
                <a:latin typeface="Aptos"/>
              </a:defRPr>
            </a:pPr>
            <a:r>
              <a:t>99.9%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DAEC9"/>
                </a:solidFill>
                <a:latin typeface="Aptos"/>
              </a:defRPr>
            </a:pPr>
            <a:r>
              <a:t>Target incident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57400"/>
            <a:ext cx="2468880" cy="192024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0" y="2331720"/>
            <a:ext cx="914400" cy="9144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25786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80F1E"/>
                </a:solidFill>
                <a:latin typeface="Aptos"/>
              </a:defRPr>
            </a:pPr>
            <a:r>
              <a:t>&gt; 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DAEC9"/>
                </a:solidFill>
                <a:latin typeface="Aptos"/>
              </a:defRPr>
            </a:pPr>
            <a:r>
              <a:t>Self-service recovery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19" y="2057400"/>
            <a:ext cx="2468880" cy="192024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38359" y="2331720"/>
            <a:ext cx="914400" cy="9144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1" y="257860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80F1E"/>
                </a:solidFill>
                <a:latin typeface="Aptos"/>
              </a:defRPr>
            </a:pPr>
            <a:r>
              <a:t>4.8 /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DAEC9"/>
                </a:solidFill>
                <a:latin typeface="Aptos"/>
              </a:defRPr>
            </a:pPr>
            <a:r>
              <a:t>Target CSAT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Aptos"/>
              </a:defRPr>
            </a:pPr>
            <a:r>
              <a:t>5-MONTH DELIVERY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92040"/>
            <a:ext cx="1691640" cy="658368"/>
          </a:xfrm>
          <a:prstGeom prst="roundRect">
            <a:avLst/>
          </a:prstGeom>
          <a:solidFill>
            <a:srgbClr val="172641"/>
          </a:solidFill>
          <a:ln>
            <a:solidFill>
              <a:srgbClr val="17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292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M1</a:t>
            </a:r>
            <a:br/>
            <a:r>
              <a:t>INGEST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39" y="50474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9DAE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39" y="4892040"/>
            <a:ext cx="1691640" cy="658368"/>
          </a:xfrm>
          <a:prstGeom prst="roundRect">
            <a:avLst/>
          </a:prstGeom>
          <a:solidFill>
            <a:srgbClr val="172641"/>
          </a:solidFill>
          <a:ln>
            <a:solidFill>
              <a:srgbClr val="17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359" y="50292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M2</a:t>
            </a:r>
            <a:br/>
            <a:r>
              <a:t>CBS HOOKS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0474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9DAE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0" y="4892040"/>
            <a:ext cx="1691640" cy="658368"/>
          </a:xfrm>
          <a:prstGeom prst="roundRect">
            <a:avLst/>
          </a:prstGeom>
          <a:solidFill>
            <a:srgbClr val="172641"/>
          </a:solidFill>
          <a:ln>
            <a:solidFill>
              <a:srgbClr val="17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50292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M3</a:t>
            </a:r>
            <a:br/>
            <a:r>
              <a:t>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0474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9DAE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59" y="4892040"/>
            <a:ext cx="1691640" cy="658368"/>
          </a:xfrm>
          <a:prstGeom prst="roundRect">
            <a:avLst/>
          </a:prstGeom>
          <a:solidFill>
            <a:srgbClr val="172641"/>
          </a:solidFill>
          <a:ln>
            <a:solidFill>
              <a:srgbClr val="17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79" y="50292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M4</a:t>
            </a:r>
            <a:br/>
            <a:r>
              <a:t>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19" y="50474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9DAEC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19" y="4892040"/>
            <a:ext cx="1691640" cy="658368"/>
          </a:xfrm>
          <a:prstGeom prst="roundRect">
            <a:avLst/>
          </a:prstGeom>
          <a:solidFill>
            <a:srgbClr val="172641"/>
          </a:solidFill>
          <a:ln>
            <a:solidFill>
              <a:srgbClr val="17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4040" y="50292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  <a:latin typeface="Aptos"/>
              </a:defRPr>
            </a:pPr>
            <a:r>
              <a:t>M5</a:t>
            </a:r>
            <a:br/>
            <a:r>
              <a:t>AUDIT + 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05840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t>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WHAT HAPPENS WHEN THE NUMBER CHANGES?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DAEC9"/>
                </a:solidFill>
                <a:latin typeface="Aptos"/>
              </a:defRPr>
            </a:pPr>
            <a:r>
              <a:t>A 60-second story is more memorable than a page of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DAEC9"/>
                </a:solidFill>
                <a:latin typeface="Aptos"/>
              </a:defRPr>
            </a:pPr>
            <a:r>
              <a:t>08  /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874519" cy="251460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16152" y="2487168"/>
            <a:ext cx="621792" cy="621792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267004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0F1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Aptos"/>
              </a:defRPr>
            </a:pPr>
            <a:r>
              <a:t>TELCO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22191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Number reallocated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2240280"/>
            <a:ext cx="1874519" cy="251460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83864" y="2487168"/>
            <a:ext cx="621792" cy="621792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267004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0F1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33375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Aptos"/>
              </a:defRPr>
            </a:pPr>
            <a:r>
              <a:t>BANK 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3822191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Risk engine flags identity mismatch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9784" y="2240280"/>
            <a:ext cx="1874519" cy="251460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51576" y="2487168"/>
            <a:ext cx="621792" cy="621792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1576" y="267004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0F1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33375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7171"/>
                </a:solidFill>
                <a:latin typeface="Aptos"/>
              </a:defRPr>
            </a:pPr>
            <a:r>
              <a:t>CONTAIN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3822191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OTP + high-risk actions restricted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2240280"/>
            <a:ext cx="1874519" cy="251460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19288" y="2487168"/>
            <a:ext cx="621792" cy="62179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267004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0F1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33375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Aptos"/>
              </a:defRPr>
            </a:pPr>
            <a:r>
              <a:t>RECOVER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5" y="3822191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Customer verifies alternate contact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65208" y="2240280"/>
            <a:ext cx="1874519" cy="2514600"/>
          </a:xfrm>
          <a:prstGeom prst="roundRect">
            <a:avLst/>
          </a:prstGeom>
          <a:solidFill>
            <a:srgbClr val="111C31"/>
          </a:solidFill>
          <a:ln>
            <a:solidFill>
              <a:srgbClr val="11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87000" y="2487168"/>
            <a:ext cx="621792" cy="621792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267004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80F1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33375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  <a:latin typeface="Aptos"/>
              </a:defRPr>
            </a:pPr>
            <a:r>
              <a:t>RESTORE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3822191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F"/>
                </a:solidFill>
                <a:latin typeface="Aptos"/>
              </a:defRPr>
            </a:pPr>
            <a:r>
              <a:t>New number registered + audit logged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166360"/>
            <a:ext cx="10698480" cy="566928"/>
          </a:xfrm>
          <a:prstGeom prst="roundRect">
            <a:avLst/>
          </a:prstGeom>
          <a:solidFill>
            <a:srgbClr val="172641"/>
          </a:solidFill>
          <a:ln>
            <a:solidFill>
              <a:srgbClr val="17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3218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t>END STATE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257800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t>The attacker loses the old number's banking privileges before the customer loses access to their account.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05840" cy="54864"/>
          </a:xfrm>
          <a:prstGeom prst="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PROTECT THE NUMBER. PROTECT THE ACCOUNT.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DAEC9"/>
                </a:solidFill>
                <a:latin typeface="Aptos"/>
              </a:defRPr>
            </a:pPr>
            <a:r>
              <a:t>Bank NumberShield makes telecom identity changes visible to the banking security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DAEC9"/>
                </a:solidFill>
                <a:latin typeface="Aptos"/>
              </a:defRPr>
            </a:pPr>
            <a:r>
              <a:t>09  / 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ptos"/>
              </a:defRPr>
            </a:pPr>
            <a: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6492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5F8FF"/>
                </a:solidFill>
                <a:latin typeface="Aptos"/>
              </a:defRPr>
            </a:pPr>
            <a:r>
              <a:t>Approve a 5-month pilot to connect authorized telecom events, the risk engine and customer recovery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965960"/>
            <a:ext cx="3337560" cy="3063240"/>
          </a:xfrm>
          <a:prstGeom prst="roundRect">
            <a:avLst/>
          </a:prstGeom>
          <a:solidFill>
            <a:srgbClr val="172641"/>
          </a:solidFill>
          <a:ln>
            <a:solidFill>
              <a:srgbClr val="17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304288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88036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F8FF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45643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D4BF"/>
                </a:solidFill>
                <a:latin typeface="Aptos"/>
              </a:defRPr>
            </a:pPr>
            <a:r>
              <a:t>localhost:8000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8862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DAEC9"/>
                </a:solidFill>
                <a:latin typeface="Aptos"/>
              </a:defRPr>
            </a:pPr>
            <a:r>
              <a:t>presentation.html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74920"/>
            <a:ext cx="2423160" cy="310896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0F1E"/>
                </a:solidFill>
              </a:defRPr>
            </a:pPr>
            <a:r>
              <a:t>QUESTIONS &amp; TECHNICAL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