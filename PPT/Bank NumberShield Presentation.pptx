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Relationship Id="rId8" Type="http://schemas.openxmlformats.org/officeDocument/2006/relationships/image" Target="../media/image31.png"/><Relationship Id="rId9" Type="http://schemas.openxmlformats.org/officeDocument/2006/relationships/image" Target="../media/image32.png"/><Relationship Id="rId10" Type="http://schemas.openxmlformats.org/officeDocument/2006/relationships/image" Target="../media/image33.png"/><Relationship Id="rId11" Type="http://schemas.openxmlformats.org/officeDocument/2006/relationships/image" Target="../media/image34.png"/><Relationship Id="rId12" Type="http://schemas.openxmlformats.org/officeDocument/2006/relationships/image" Target="../media/image35.png"/><Relationship Id="rId13" Type="http://schemas.openxmlformats.org/officeDocument/2006/relationships/image" Target="../media/image36.png"/><Relationship Id="rId14" Type="http://schemas.openxmlformats.org/officeDocument/2006/relationships/image" Target="../media/image37.png"/><Relationship Id="rId15" Type="http://schemas.openxmlformats.org/officeDocument/2006/relationships/image" Target="../media/image38.png"/><Relationship Id="rId16" Type="http://schemas.openxmlformats.org/officeDocument/2006/relationships/image" Target="../media/image39.png"/><Relationship Id="rId17" Type="http://schemas.openxmlformats.org/officeDocument/2006/relationships/image" Target="../media/image40.png"/><Relationship Id="rId18" Type="http://schemas.openxmlformats.org/officeDocument/2006/relationships/image" Target="../media/image41.png"/><Relationship Id="rId19" Type="http://schemas.openxmlformats.org/officeDocument/2006/relationships/image" Target="../media/image42.png"/><Relationship Id="rId20" Type="http://schemas.openxmlformats.org/officeDocument/2006/relationships/image" Target="../media/image43.png"/><Relationship Id="rId21" Type="http://schemas.openxmlformats.org/officeDocument/2006/relationships/image" Target="../media/image4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5.png"/><Relationship Id="rId4" Type="http://schemas.openxmlformats.org/officeDocument/2006/relationships/image" Target="../media/image46.png"/><Relationship Id="rId5" Type="http://schemas.openxmlformats.org/officeDocument/2006/relationships/image" Target="../media/image4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image" Target="../media/image50.png"/><Relationship Id="rId6" Type="http://schemas.openxmlformats.org/officeDocument/2006/relationships/image" Target="../media/image51.png"/><Relationship Id="rId7" Type="http://schemas.openxmlformats.org/officeDocument/2006/relationships/image" Target="../media/image52.png"/><Relationship Id="rId8" Type="http://schemas.openxmlformats.org/officeDocument/2006/relationships/image" Target="../media/image53.png"/><Relationship Id="rId9" Type="http://schemas.openxmlformats.org/officeDocument/2006/relationships/image" Target="../media/image54.png"/><Relationship Id="rId10" Type="http://schemas.openxmlformats.org/officeDocument/2006/relationships/image" Target="../media/image55.png"/><Relationship Id="rId11" Type="http://schemas.openxmlformats.org/officeDocument/2006/relationships/image" Target="../media/image5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7.png"/><Relationship Id="rId4" Type="http://schemas.openxmlformats.org/officeDocument/2006/relationships/image" Target="../media/image58.png"/><Relationship Id="rId5" Type="http://schemas.openxmlformats.org/officeDocument/2006/relationships/image" Target="../media/image59.png"/><Relationship Id="rId6" Type="http://schemas.openxmlformats.org/officeDocument/2006/relationships/image" Target="../media/image60.png"/><Relationship Id="rId7" Type="http://schemas.openxmlformats.org/officeDocument/2006/relationships/image" Target="../media/image6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2.png"/><Relationship Id="rId4" Type="http://schemas.openxmlformats.org/officeDocument/2006/relationships/image" Target="../media/image63.png"/><Relationship Id="rId5" Type="http://schemas.openxmlformats.org/officeDocument/2006/relationships/image" Target="../media/image6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4346227"/>
            <a:ext cx="4943475" cy="149899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1012775"/>
            <a:ext cx="4943475" cy="30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1025" y="1508075"/>
            <a:ext cx="5190648" cy="13409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b="1" sz="4800" i="0" u="none">
                <a:solidFill>
                  <a:srgbClr val="F8FAFC"/>
                </a:solidFill>
                <a:latin typeface="Plus Jakarta Sans"/>
              </a:rPr>
              <a:t>Bank NumberShield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1025" y="3039516"/>
            <a:ext cx="4943475" cy="639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94A3B8"/>
                </a:solidFill>
                <a:latin typeface="Plus Jakarta Sans Light"/>
              </a:rPr>
              <a:t>Automated Telecom SIM Recycling Protection &amp; Identity Security Platform.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9525"/>
            <a:ext cx="6086475" cy="6858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1025" y="4641502"/>
            <a:ext cx="494347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1" sz="1200" i="0" u="none">
                <a:solidFill>
                  <a:srgbClr val="E2E8F0"/>
                </a:solidFill>
                <a:latin typeface="Plus Jakarta Sans"/>
              </a:rPr>
              <a:t>Presented by:</a:t>
            </a:r>
            <a:r>
              <a:rPr b="0" sz="1200" i="0" u="none">
                <a:solidFill>
                  <a:srgbClr val="94A3B8"/>
                </a:solidFill>
                <a:latin typeface="Plus Jakarta Sans"/>
              </a:rPr>
              <a:t> Bank Security &amp; Privacy Engineering 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025" y="4961483"/>
            <a:ext cx="494347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1" sz="1200" i="0" u="none">
                <a:solidFill>
                  <a:srgbClr val="E2E8F0"/>
                </a:solidFill>
                <a:latin typeface="Plus Jakarta Sans"/>
              </a:rPr>
              <a:t>Date:</a:t>
            </a:r>
            <a:r>
              <a:rPr b="0" sz="1200" i="0" u="none">
                <a:solidFill>
                  <a:srgbClr val="94A3B8"/>
                </a:solidFill>
                <a:latin typeface="Plus Jakarta Sans"/>
              </a:rPr>
              <a:t> August 17,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1025" y="5281463"/>
            <a:ext cx="4943475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1" sz="1200" i="0" u="none">
                <a:solidFill>
                  <a:srgbClr val="E2E8F0"/>
                </a:solidFill>
                <a:latin typeface="Plus Jakarta Sans"/>
              </a:rPr>
              <a:t>Target Audience:</a:t>
            </a:r>
            <a:r>
              <a:rPr b="0" sz="1200" i="0" u="none">
                <a:solidFill>
                  <a:srgbClr val="94A3B8"/>
                </a:solidFill>
                <a:latin typeface="Plus Jakarta Sans"/>
              </a:rPr>
              <a:t> Executive Board, CISO, Head of Banking Ops &amp; Compliance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133772"/>
            <a:ext cx="5276850" cy="135612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1133772"/>
            <a:ext cx="527685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9625" y="1324272"/>
            <a:ext cx="4857750" cy="975121"/>
          </a:xfrm>
          <a:prstGeom prst="rect">
            <a:avLst/>
          </a:prstGeom>
          <a:noFill/>
        </p:spPr>
        <p:txBody>
          <a:bodyPr wrap="square" lIns="24765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FCA5A5"/>
                </a:solidFill>
                <a:latin typeface="monospace"/>
              </a:rPr>
              <a:t>Telecoms reassign deactivated SIMs to new users. If linked to an account, the new owner receives Confidential Bank OTPs, NetBanking Alerts, and UPI access.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3650" y="1143297"/>
            <a:ext cx="2952750" cy="2000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1362372"/>
            <a:ext cx="152400" cy="152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09650" y="2775644"/>
            <a:ext cx="4848225" cy="9923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F8FAFC"/>
                </a:solidFill>
                <a:latin typeface="Plus Jakarta Sans"/>
              </a:rPr>
              <a:t>Telecom Recycling Reality</a:t>
            </a:r>
            <a:r>
              <a:rPr b="0" sz="1500" i="0" u="none">
                <a:solidFill>
                  <a:srgbClr val="CBD5E1"/>
                </a:solidFill>
                <a:latin typeface="Plus Jakarta Sans"/>
              </a:rPr>
              <a:t> Mobile carriers recycle inactive phone numbers after 90 days under telecom regulations.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9650" y="4006155"/>
            <a:ext cx="4848225" cy="9923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F8FAFC"/>
                </a:solidFill>
                <a:latin typeface="Plus Jakarta Sans"/>
              </a:rPr>
              <a:t>The Banking Vulnerability</a:t>
            </a:r>
            <a:r>
              <a:rPr b="0" sz="1500" i="0" u="none">
                <a:solidFill>
                  <a:srgbClr val="CBD5E1"/>
                </a:solidFill>
                <a:latin typeface="Plus Jakarta Sans"/>
              </a:rPr>
              <a:t> Over 68% of customers forget to update their primary mobile number with their bank when changing phones.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9650" y="5236666"/>
            <a:ext cx="4848225" cy="12971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F8FAFC"/>
                </a:solidFill>
                <a:latin typeface="Plus Jakarta Sans"/>
              </a:rPr>
              <a:t>Financial &amp; Regulatory Risks</a:t>
            </a:r>
            <a:r>
              <a:rPr b="0" sz="1500" i="0" u="none">
                <a:solidFill>
                  <a:srgbClr val="CBD5E1"/>
                </a:solidFill>
                <a:latin typeface="Plus Jakarta Sans"/>
              </a:rPr>
              <a:t> Account Takeovers via OTP resets, unauthorized UPI auto-binding, and severe breaches of RBI/PCI-DSS standards.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1025" y="86022"/>
            <a:ext cx="11581447" cy="523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F8FAFC"/>
                </a:solidFill>
                <a:latin typeface="Plus Jakarta Sans"/>
              </a:rPr>
              <a:t>The Silent Threat: </a:t>
            </a:r>
            <a:r>
              <a:rPr b="1" sz="3150" i="0" u="none">
                <a:solidFill>
                  <a:srgbClr val="22D3EE"/>
                </a:solidFill>
                <a:latin typeface="Plus Jakarta Sans"/>
              </a:rPr>
              <a:t>SIM Recycling Fraud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1025" y="733722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628775"/>
            <a:ext cx="5372100" cy="21812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1628775"/>
            <a:ext cx="5372100" cy="21812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095750"/>
            <a:ext cx="5372100" cy="21812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8875" y="4095750"/>
            <a:ext cx="5372100" cy="21812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76300" y="2562225"/>
            <a:ext cx="47815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94A3B8"/>
                </a:solidFill>
                <a:latin typeface="Plus Jakarta Sans"/>
              </a:rPr>
              <a:t>Listens continuously for SIM reallocation events from DoT / TAFCOP / Aadhaar verification feeds upon new SIM issuance.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4150" y="2562225"/>
            <a:ext cx="47815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94A3B8"/>
                </a:solidFill>
                <a:latin typeface="Plus Jakarta Sans"/>
              </a:rPr>
              <a:t>Deactivates SMS OTP dispatch, UPI handles, and mobile banking access from the old number in under 60 minutes.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5029200"/>
            <a:ext cx="4781550" cy="728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94A3B8"/>
                </a:solidFill>
                <a:latin typeface="Plus Jakarta Sans"/>
              </a:rPr>
              <a:t>Queries authorized Aadhaar Data Vault &amp; CKYC records to discover verified alternate phone numbers without requesting redundant user API permissions.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4150" y="5029200"/>
            <a:ext cx="47815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94A3B8"/>
                </a:solidFill>
                <a:latin typeface="Plus Jakarta Sans"/>
              </a:rPr>
              <a:t>Automatically freezes high-value outbound transfers and locks linked Debit/Credit Cards until identity is re-established.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6300" y="1924050"/>
            <a:ext cx="495300" cy="4953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514475" y="2028825"/>
            <a:ext cx="372046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E2E8F0"/>
                </a:solidFill>
                <a:latin typeface="Plus Jakarta Sans SemiBold"/>
              </a:rPr>
              <a:t>Automated Real-Time Ingestion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4150" y="1924050"/>
            <a:ext cx="466725" cy="4953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143750" y="2028825"/>
            <a:ext cx="3750468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E2E8F0"/>
                </a:solidFill>
                <a:latin typeface="Plus Jakarta Sans SemiBold"/>
              </a:rPr>
              <a:t>Strict 1-Hour SLA Deregistration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6300" y="4391025"/>
            <a:ext cx="495300" cy="4953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514475" y="4495800"/>
            <a:ext cx="3340417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E2E8F0"/>
                </a:solidFill>
                <a:latin typeface="Plus Jakarta Sans SemiBold"/>
              </a:rPr>
              <a:t>Alternate Contact Discovery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34150" y="4391025"/>
            <a:ext cx="495300" cy="4953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172325" y="4495800"/>
            <a:ext cx="372046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E2E8F0"/>
                </a:solidFill>
                <a:latin typeface="Plus Jakarta Sans SemiBold"/>
              </a:rPr>
              <a:t>Account Security Restrict Mode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1025" y="581025"/>
            <a:ext cx="11581447" cy="523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F8FAFC"/>
                </a:solidFill>
                <a:latin typeface="Plus Jakarta Sans"/>
              </a:rPr>
              <a:t>Bank NumberShield: </a:t>
            </a:r>
            <a:r>
              <a:rPr b="1" sz="3150" i="0" u="none">
                <a:solidFill>
                  <a:srgbClr val="22D3EE"/>
                </a:solidFill>
                <a:latin typeface="Plus Jakarta Sans"/>
              </a:rPr>
              <a:t>How It Works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1025" y="1228725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6955" y="1628775"/>
            <a:ext cx="6617940" cy="7334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2647950"/>
            <a:ext cx="5324475" cy="291643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2647950"/>
            <a:ext cx="5324475" cy="291643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031558" y="1828800"/>
            <a:ext cx="6128734" cy="333375"/>
          </a:xfrm>
          <a:prstGeom prst="rect">
            <a:avLst/>
          </a:prstGeom>
          <a:noFill/>
        </p:spPr>
        <p:txBody>
          <a:bodyPr wrap="square" lIns="361950" rIns="0" tIns="0" bIns="0" anchor="t">
            <a:spAutoFit/>
          </a:bodyPr>
          <a:lstStyle/>
          <a:p>
            <a:pPr algn="ctr"/>
            <a:r>
              <a:rPr b="0" sz="2100" i="0" u="none">
                <a:solidFill>
                  <a:srgbClr val="60A5FA"/>
                </a:solidFill>
                <a:latin typeface="Plus Jakarta Sans SemiBold"/>
              </a:rPr>
              <a:t>Bank NumberShield Core Engine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6086475" y="3963292"/>
            <a:ext cx="19050" cy="2857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38512" y="4096642"/>
            <a:ext cx="5514975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28901" y="1876425"/>
            <a:ext cx="266700" cy="2667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233737" y="3963292"/>
            <a:ext cx="19050" cy="2857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939212" y="3963292"/>
            <a:ext cx="19050" cy="2857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6300" y="2962275"/>
            <a:ext cx="228600" cy="228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247775" y="2943225"/>
            <a:ext cx="3010376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F8FAFC"/>
                </a:solidFill>
                <a:latin typeface="Plus Jakarta Sans SemiBold"/>
              </a:rPr>
              <a:t>Bank Staff Operations Portal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2050" y="3600450"/>
            <a:ext cx="4448175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Plus Jakarta Sans"/>
              </a:rPr>
              <a:t>Role-Based Access Control (RBAC)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2050" y="4017615"/>
            <a:ext cx="4448175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Plus Jakarta Sans"/>
              </a:rPr>
              <a:t>Live SIM Recycling Feed Monitor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2050" y="4434780"/>
            <a:ext cx="4448175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Plus Jakarta Sans"/>
              </a:rPr>
              <a:t>Manual Inspection &amp; Staff Overrides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62050" y="4851945"/>
            <a:ext cx="4448175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Plus Jakarta Sans"/>
              </a:rPr>
              <a:t>CSAT &amp; Prevention Analytics Dashboard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1775" y="2962275"/>
            <a:ext cx="171450" cy="2286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896100" y="2943225"/>
            <a:ext cx="3370421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F8FAFC"/>
                </a:solidFill>
                <a:latin typeface="Plus Jakarta Sans SemiBold"/>
              </a:rPr>
              <a:t>Customer Temp Recovery Portal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67525" y="3600450"/>
            <a:ext cx="4448175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Plus Jakarta Sans"/>
              </a:rPr>
              <a:t>15-Minute Auto-Expiring Session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67525" y="4017615"/>
            <a:ext cx="4448175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Plus Jakarta Sans"/>
              </a:rPr>
              <a:t>3-Step Guided Number Recovery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67525" y="4434780"/>
            <a:ext cx="4448175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Plus Jakarta Sans"/>
              </a:rPr>
              <a:t>Card Unblock &amp; Restructure Controls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67525" y="4851945"/>
            <a:ext cx="4448175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Plus Jakarta Sans"/>
              </a:rPr>
              <a:t>Auto Session Self-Destruction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1025" y="581025"/>
            <a:ext cx="11581447" cy="523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F8FAFC"/>
                </a:solidFill>
                <a:latin typeface="Plus Jakarta Sans"/>
              </a:rPr>
              <a:t>Dual-Portal </a:t>
            </a:r>
            <a:r>
              <a:rPr b="1" sz="3150" i="0" u="none">
                <a:solidFill>
                  <a:srgbClr val="22D3EE"/>
                </a:solidFill>
                <a:latin typeface="Plus Jakarta Sans"/>
              </a:rPr>
              <a:t>Operations Architecture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1025" y="1228725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6300" y="3600450"/>
            <a:ext cx="85725" cy="180975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6300" y="4017615"/>
            <a:ext cx="85725" cy="180975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6300" y="4434780"/>
            <a:ext cx="85725" cy="18097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6300" y="4851945"/>
            <a:ext cx="85725" cy="180975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81775" y="3600450"/>
            <a:ext cx="85725" cy="180975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81775" y="4017615"/>
            <a:ext cx="85725" cy="180975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81775" y="4434780"/>
            <a:ext cx="85725" cy="180975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81775" y="4851945"/>
            <a:ext cx="85725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003375"/>
            <a:ext cx="11029950" cy="4537174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1365200"/>
            <a:ext cx="2381250" cy="3524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5150" y="1365200"/>
            <a:ext cx="2266950" cy="3524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14975" y="1365200"/>
            <a:ext cx="2447925" cy="3524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05775" y="1365200"/>
            <a:ext cx="2809875" cy="352425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0550" y="2012900"/>
          <a:ext cx="11010898" cy="45181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651545"/>
                <a:gridCol w="3853755"/>
                <a:gridCol w="5505598"/>
              </a:tblGrid>
              <a:tr h="645446"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94A3B8"/>
                          </a:solidFill>
                          <a:latin typeface="Plus Jakarta Sans SemiBold"/>
                        </a:rPr>
                        <a:t>Method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94A3B8"/>
                          </a:solidFill>
                          <a:latin typeface="Plus Jakarta Sans SemiBold"/>
                        </a:rPr>
                        <a:t>Endpoint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94A3B8"/>
                          </a:solidFill>
                          <a:latin typeface="Plus Jakarta Sans SemiBold"/>
                        </a:rPr>
                        <a:t>Purpose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20617"/>
                    </a:solidFill>
                  </a:tcPr>
                </a:tc>
              </a:tr>
              <a:tr h="645446"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POST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/api/auth/employee-login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Authenticates bank staff members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45446"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POST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/api/auth/customer-temp-login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Authenticates temporary customer recovery portal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45446"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GET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/api/sim-events/feed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Streams real-time SIM recycling event queue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45446"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POST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/api/sim-events/trigger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Ingests telecom SIM allocation webhook events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45446"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POST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/api/account/reregister-number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Re-registers customer primary mobile number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45448"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POST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/api/account/card-controls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Restores or emergency freezes linked cards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3425" y="1465212"/>
            <a:ext cx="133350" cy="152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57550" y="1465212"/>
            <a:ext cx="133350" cy="152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67375" y="1465212"/>
            <a:ext cx="133350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58175" y="1465212"/>
            <a:ext cx="152400" cy="1524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90550" y="2617737"/>
            <a:ext cx="165154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42095" y="2617737"/>
            <a:ext cx="385375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95851" y="2617737"/>
            <a:ext cx="550559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0550" y="3269158"/>
            <a:ext cx="165154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42095" y="3269158"/>
            <a:ext cx="385375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95851" y="3269158"/>
            <a:ext cx="550559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0550" y="3920579"/>
            <a:ext cx="165154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42095" y="3920579"/>
            <a:ext cx="385375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95851" y="3920579"/>
            <a:ext cx="550559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0550" y="4572000"/>
            <a:ext cx="165154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242095" y="4572000"/>
            <a:ext cx="385375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095851" y="4572000"/>
            <a:ext cx="550559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0550" y="5223420"/>
            <a:ext cx="165154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242095" y="5223420"/>
            <a:ext cx="385375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95851" y="5223420"/>
            <a:ext cx="550559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90550" y="5874841"/>
            <a:ext cx="165154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42095" y="5874841"/>
            <a:ext cx="385375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95851" y="5874841"/>
            <a:ext cx="550559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9150" y="2813000"/>
            <a:ext cx="529679" cy="30852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470695" y="2848123"/>
            <a:ext cx="2347317" cy="257175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19150" y="3464421"/>
            <a:ext cx="529679" cy="30852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470695" y="3499544"/>
            <a:ext cx="2804666" cy="257175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19150" y="4115841"/>
            <a:ext cx="449758" cy="30852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470695" y="4150965"/>
            <a:ext cx="1981497" cy="257175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19150" y="4767262"/>
            <a:ext cx="529679" cy="30852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470695" y="4802385"/>
            <a:ext cx="2255936" cy="257175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19150" y="5418683"/>
            <a:ext cx="529679" cy="308520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470695" y="5453806"/>
            <a:ext cx="2896046" cy="257175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9150" y="6070103"/>
            <a:ext cx="529679" cy="308520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470695" y="6105227"/>
            <a:ext cx="2530226" cy="257175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581025" y="317450"/>
            <a:ext cx="11581447" cy="523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F8FAFC"/>
                </a:solidFill>
                <a:latin typeface="Plus Jakarta Sans"/>
              </a:rPr>
              <a:t>Technical Implementation &amp; </a:t>
            </a:r>
            <a:r>
              <a:rPr b="1" sz="3150" i="0" u="none">
                <a:solidFill>
                  <a:srgbClr val="22D3EE"/>
                </a:solidFill>
                <a:latin typeface="Plus Jakarta Sans"/>
              </a:rPr>
              <a:t>API Design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81025" y="965150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140321"/>
            <a:ext cx="52768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334125" y="1140321"/>
            <a:ext cx="5540692" cy="333375"/>
          </a:xfrm>
          <a:prstGeom prst="rect">
            <a:avLst/>
          </a:prstGeom>
          <a:noFill/>
        </p:spPr>
        <p:txBody>
          <a:bodyPr wrap="square" lIns="342900" rIns="0" tIns="0" bIns="0" anchor="t">
            <a:spAutoFit/>
          </a:bodyPr>
          <a:lstStyle/>
          <a:p>
            <a:pPr algn="l"/>
            <a:r>
              <a:rPr b="0" sz="2100" i="0" u="none">
                <a:solidFill>
                  <a:srgbClr val="60A5FA"/>
                </a:solidFill>
                <a:latin typeface="Plus Jakarta Sans SemiBold"/>
              </a:rPr>
              <a:t>Statutory Identity Authority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34125" y="1616571"/>
            <a:ext cx="5276850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Plus Jakarta Sans"/>
              </a:rPr>
              <a:t>Bank NumberShield operates under existing statutory banking authority for KYC. Queries internal </a:t>
            </a:r>
            <a:r>
              <a:rPr b="1" sz="1500" i="0" u="none">
                <a:solidFill>
                  <a:srgbClr val="CBD5E1"/>
                </a:solidFill>
                <a:latin typeface="Plus Jakarta Sans"/>
              </a:rPr>
              <a:t>Aadhaar Data Vault</a:t>
            </a:r>
            <a:r>
              <a:rPr b="0" sz="1500" i="0" u="none">
                <a:solidFill>
                  <a:srgbClr val="CBD5E1"/>
                </a:solidFill>
                <a:latin typeface="Plus Jakarta Sans"/>
              </a:rPr>
              <a:t> and </a:t>
            </a:r>
            <a:r>
              <a:rPr b="1" sz="1500" i="0" u="none">
                <a:solidFill>
                  <a:srgbClr val="CBD5E1"/>
                </a:solidFill>
                <a:latin typeface="Plus Jakarta Sans"/>
              </a:rPr>
              <a:t>CKYC Records</a:t>
            </a:r>
            <a:r>
              <a:rPr b="0" sz="1500" i="0" u="none">
                <a:solidFill>
                  <a:srgbClr val="CBD5E1"/>
                </a:solidFill>
                <a:latin typeface="Plus Jakarta Sans"/>
              </a:rPr>
              <a:t> for alternate contacts during incidents without redundant API consent.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550" y="1149846"/>
            <a:ext cx="4152900" cy="2000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4125" y="1187946"/>
            <a:ext cx="266700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762750" y="3073896"/>
            <a:ext cx="4848225" cy="9923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F8FAFC"/>
                </a:solidFill>
                <a:latin typeface="Plus Jakarta Sans"/>
              </a:rPr>
              <a:t>RBI Cyber Security Framework</a:t>
            </a:r>
            <a:r>
              <a:rPr b="0" sz="1500" i="0" u="none">
                <a:solidFill>
                  <a:srgbClr val="CBD5E1"/>
                </a:solidFill>
                <a:latin typeface="Plus Jakarta Sans"/>
              </a:rPr>
              <a:t> Meets mandatory requirements for proactive account isolation and fraud containment.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2750" y="4304407"/>
            <a:ext cx="4848225" cy="9923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F8FAFC"/>
                </a:solidFill>
                <a:latin typeface="Plus Jakarta Sans"/>
              </a:rPr>
              <a:t>PCI-DSS 4.0 Level 1</a:t>
            </a:r>
            <a:r>
              <a:rPr b="0" sz="1500" i="0" u="none">
                <a:solidFill>
                  <a:srgbClr val="CBD5E1"/>
                </a:solidFill>
                <a:latin typeface="Plus Jakarta Sans"/>
              </a:rPr>
              <a:t> Replaces raw PANs/PII with surrogate tokens (TOK-PAN-XXXX) to remove DB from audit scope.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2750" y="5534917"/>
            <a:ext cx="4848225" cy="9923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F8FAFC"/>
                </a:solidFill>
                <a:latin typeface="Plus Jakarta Sans"/>
              </a:rPr>
              <a:t>UIDAI Aadhaar Vault &amp; DPDP Act 2023</a:t>
            </a:r>
            <a:r>
              <a:rPr b="0" sz="1500" i="0" u="none">
                <a:solidFill>
                  <a:srgbClr val="CBD5E1"/>
                </a:solidFill>
                <a:latin typeface="Plus Jakarta Sans"/>
              </a:rPr>
              <a:t> Encrypted HSM storage for Aadhaar references and enforced automated session termination.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1025" y="92571"/>
            <a:ext cx="11581447" cy="523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F8FAFC"/>
                </a:solidFill>
                <a:latin typeface="Plus Jakarta Sans"/>
              </a:rPr>
              <a:t>Regulatory Compliance &amp; </a:t>
            </a:r>
            <a:r>
              <a:rPr b="1" sz="3150" i="0" u="none">
                <a:solidFill>
                  <a:srgbClr val="22D3EE"/>
                </a:solidFill>
                <a:latin typeface="Plus Jakarta Sans"/>
              </a:rPr>
              <a:t>Legal Framework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1025" y="740271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095500"/>
            <a:ext cx="2386458" cy="1390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7983" y="2095500"/>
            <a:ext cx="2386458" cy="1390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3676650"/>
            <a:ext cx="2386458" cy="13906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57983" y="3676650"/>
            <a:ext cx="2386458" cy="1390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1025" y="1524000"/>
            <a:ext cx="5211588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100" i="0" u="none">
                <a:solidFill>
                  <a:srgbClr val="F1F5F9"/>
                </a:solidFill>
                <a:latin typeface="Plus Jakarta Sans SemiBold"/>
              </a:rPr>
              <a:t>Key Performance Indicators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20692" y="1524000"/>
            <a:ext cx="6171307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100" i="0" u="none">
                <a:solidFill>
                  <a:srgbClr val="F1F5F9"/>
                </a:solidFill>
                <a:latin typeface="Plus Jakarta Sans SemiBold"/>
              </a:rPr>
              <a:t>5-Phase Implementation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9044359" y="2190750"/>
            <a:ext cx="19050" cy="40957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050" y="2343150"/>
            <a:ext cx="1986408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b="0" sz="3150" i="0" u="none">
                <a:solidFill>
                  <a:srgbClr val="22D3EE"/>
                </a:solidFill>
                <a:latin typeface="Plus Jakarta Sans ExtraBold"/>
              </a:rPr>
              <a:t>&lt;42m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050" y="2838450"/>
            <a:ext cx="1986408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94A3B8"/>
                </a:solidFill>
                <a:latin typeface="Plus Jakarta Sans Medium"/>
              </a:rPr>
              <a:t>Avg. Deregistration Speed (Target: 60m)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58008" y="2343150"/>
            <a:ext cx="1986408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b="0" sz="3150" i="0" u="none">
                <a:solidFill>
                  <a:srgbClr val="22D3EE"/>
                </a:solidFill>
                <a:latin typeface="Plus Jakarta Sans ExtraBold"/>
              </a:rPr>
              <a:t>99.9%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58008" y="2838450"/>
            <a:ext cx="1986408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94A3B8"/>
                </a:solidFill>
                <a:latin typeface="Plus Jakarta Sans Medium"/>
              </a:rPr>
              <a:t>Reduction in Account Takeovers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050" y="3924300"/>
            <a:ext cx="1986408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b="0" sz="3150" i="0" u="none">
                <a:solidFill>
                  <a:srgbClr val="22D3EE"/>
                </a:solidFill>
                <a:latin typeface="Plus Jakarta Sans ExtraBold"/>
              </a:rPr>
              <a:t>&gt;85%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050" y="4419600"/>
            <a:ext cx="1986408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94A3B8"/>
                </a:solidFill>
                <a:latin typeface="Plus Jakarta Sans Medium"/>
              </a:rPr>
              <a:t>Self-Service Recovery Success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58008" y="4024312"/>
            <a:ext cx="1986408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b="0" sz="3150" i="0" u="none">
                <a:solidFill>
                  <a:srgbClr val="22D3EE"/>
                </a:solidFill>
                <a:latin typeface="Plus Jakarta Sans ExtraBold"/>
              </a:rPr>
              <a:t>4.8/5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58008" y="4519612"/>
            <a:ext cx="1986408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94A3B8"/>
                </a:solidFill>
                <a:latin typeface="Plus Jakarta Sans Medium"/>
              </a:rPr>
              <a:t>Average CSAT Rating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1692" y="2095500"/>
            <a:ext cx="1533525" cy="2476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401692" y="2419350"/>
            <a:ext cx="5685383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Plus Jakarta Sans"/>
              </a:rPr>
              <a:t>Ingest Telecom &amp; Aadhaar Feeds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1692" y="3009900"/>
            <a:ext cx="1571625" cy="2476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401692" y="3333750"/>
            <a:ext cx="5685383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Plus Jakarta Sans"/>
              </a:rPr>
              <a:t>CBS Automated Hooks &amp; 1-Hr SLA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1692" y="3924300"/>
            <a:ext cx="1590675" cy="2476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401692" y="4248150"/>
            <a:ext cx="5685383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Plus Jakarta Sans"/>
              </a:rPr>
              <a:t>Customer Portal &amp; Alert Engine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1692" y="4838700"/>
            <a:ext cx="1590675" cy="2476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401692" y="5162550"/>
            <a:ext cx="5685383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Plus Jakarta Sans"/>
              </a:rPr>
              <a:t>Bank Staff Console &amp; CSAT Analytics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01692" y="5753100"/>
            <a:ext cx="1590675" cy="24765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401692" y="6076950"/>
            <a:ext cx="5685383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Plus Jakarta Sans"/>
              </a:rPr>
              <a:t>Sec-Audit, Pen-Test &amp; Prod Deploy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1025" y="476250"/>
            <a:ext cx="11581447" cy="523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F8FAFC"/>
                </a:solidFill>
                <a:latin typeface="Plus Jakarta Sans"/>
              </a:rPr>
              <a:t>Success Metrics &amp; </a:t>
            </a:r>
            <a:r>
              <a:rPr b="1" sz="3150" i="0" u="none">
                <a:solidFill>
                  <a:srgbClr val="22D3EE"/>
                </a:solidFill>
                <a:latin typeface="Plus Jakarta Sans"/>
              </a:rPr>
              <a:t>Rollout Roadmap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1025" y="1123950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187234" y="235267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187234" y="326707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187234" y="418147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187234" y="509587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187234" y="601027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187234" y="235267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020617"/>
          </a:solidFill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87234" y="326707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020617"/>
          </a:solidFill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187234" y="418147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020617"/>
          </a:solidFill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187234" y="509587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020617"/>
          </a:solidFill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187234" y="601027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020617"/>
          </a:solidFill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7376" y="3599408"/>
            <a:ext cx="7017097" cy="21526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11949" y="1334541"/>
            <a:ext cx="7367952" cy="866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5400" i="0" u="none">
                <a:solidFill>
                  <a:srgbClr val="F8FAFC"/>
                </a:solidFill>
                <a:latin typeface="Plus Jakarta Sans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87376" y="2391816"/>
            <a:ext cx="7017097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b="0" sz="1800" i="0" u="none">
                <a:solidFill>
                  <a:srgbClr val="94A3B8"/>
                </a:solidFill>
                <a:latin typeface="Plus Jakarta Sans"/>
              </a:rPr>
              <a:t>Bank NumberShield: Protecting Accounts, Preserving Trust.</a:t>
            </a:r>
            <a:r>
              <a:t>
</a:t>
            </a:r>
            <a:r>
              <a:rPr b="0" sz="1800" i="0" u="none">
                <a:solidFill>
                  <a:srgbClr val="94A3B8"/>
                </a:solidFill>
                <a:latin typeface="Plus Jakarta Sans"/>
              </a:rPr>
              <a:t> Open for Questions &amp; Technical Discussion.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7901" y="3994695"/>
            <a:ext cx="228600" cy="190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349376" y="3989933"/>
            <a:ext cx="3704034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CBD5E1"/>
                </a:solidFill>
                <a:latin typeface="monospace"/>
              </a:rPr>
              <a:t>Live App Demo: http://localhost:8000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77901" y="4385220"/>
            <a:ext cx="228600" cy="190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49376" y="4380458"/>
            <a:ext cx="5864572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CBD5E1"/>
                </a:solidFill>
                <a:latin typeface="monospace"/>
              </a:rPr>
              <a:t>Interactive Deck: http://localhost:8000/presentation.html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77901" y="4775745"/>
            <a:ext cx="228600" cy="190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349376" y="4770983"/>
            <a:ext cx="2572196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CBD5E1"/>
                </a:solidFill>
                <a:latin typeface="monospace"/>
              </a:rPr>
              <a:t>Full PRD Document: PRD.md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77901" y="5166270"/>
            <a:ext cx="228600" cy="190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349376" y="5161508"/>
            <a:ext cx="2880866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CBD5E1"/>
                </a:solidFill>
                <a:latin typeface="monospace"/>
              </a:rPr>
              <a:t>Repository: d:/Numbershield/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81025" y="1628775"/>
            <a:ext cx="11029950" cy="9828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81025" y="2611635"/>
            <a:ext cx="1102995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81025" y="2602110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81025" y="2602110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3386881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81025" y="3386881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877317"/>
            <a:ext cx="857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76400" y="1771650"/>
            <a:ext cx="9934575" cy="396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Plus Jakarta Sans"/>
              </a:rPr>
              <a:t>https://media.istockphoto.com/id/1847121853/photo/futuristic-digital-background-with-unique-glowing-yellow-shield-protection-against-hacker.jpg?s=612x612&amp;w=0&amp;k=20&amp;c=o8sA-11Am7-3mcxqqtAQvzcy6ROx4YAjekGGP0x1Iio=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76400" y="2215455"/>
            <a:ext cx="993457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www.istockphoto.com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2761059"/>
            <a:ext cx="857250" cy="4762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676400" y="2754510"/>
            <a:ext cx="993457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Plus Jakarta Sans"/>
              </a:rPr>
              <a:t>https://lookaside.fbsbx.com/lookaside/crawler/media/?media_id=1361032912717721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76400" y="3000226"/>
            <a:ext cx="993457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www.facebook.com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3545830"/>
            <a:ext cx="857250" cy="4762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676400" y="3539281"/>
            <a:ext cx="993457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Plus Jakarta Sans"/>
              </a:rPr>
              <a:t>https://lookaside.fbsbx.com/lookaside/crawler/media/?media_id=1330644452221217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76400" y="3784996"/>
            <a:ext cx="993457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www.facebook.com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1025" y="581025"/>
            <a:ext cx="11581447" cy="523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F8FAFC"/>
                </a:solidFill>
                <a:latin typeface="Plus Jakarta Sans"/>
              </a:rPr>
              <a:t>Image Sources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1025" y="1228725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