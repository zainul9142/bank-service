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2084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24612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66344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608076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EXECUTIVE SECURITY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1323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BANK NUMBERSHIELD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2984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Automated protection against recycled-SIM account takeover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3840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4320"/>
            <a:ext cx="73152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4A3B8"/>
                </a:solidFill>
                <a:latin typeface="Aptos"/>
              </a:defRPr>
            </a:pPr>
            <a:r>
              <a:t>BANK NUMBERSHIELD  •  BANKING IDENTITY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011680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1F5F9"/>
                </a:solidFill>
                <a:latin typeface="Aptos"/>
              </a:defRPr>
            </a:pPr>
            <a:r>
              <a:t>WHEN A PHONE NUMBER</a:t>
            </a:r>
            <a:br/>
            <a:r>
              <a:t>CHANGES HANDS…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186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ptos"/>
              </a:defRPr>
            </a:pPr>
            <a:r>
              <a:t>…the bank should know before the attacker does.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1645920" cy="310896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4151376"/>
            <a:ext cx="1572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0A16"/>
                </a:solidFill>
                <a:latin typeface="Aptos"/>
              </a:defRPr>
            </a:pPr>
            <a:r>
              <a:t>&lt; 60 MIN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7168" y="4096512"/>
            <a:ext cx="1234440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3744" y="4151376"/>
            <a:ext cx="11612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0A16"/>
                </a:solidFill>
                <a:latin typeface="Aptos"/>
              </a:defRPr>
            </a:pPr>
            <a:r>
              <a:t>EVENT-DRIVEN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77056" y="4096512"/>
            <a:ext cx="114300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4151376"/>
            <a:ext cx="10698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0A16"/>
                </a:solidFill>
                <a:latin typeface="Aptos"/>
              </a:defRPr>
            </a:pPr>
            <a:r>
              <a:t>ZERO TRUST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828800"/>
            <a:ext cx="3840480" cy="379476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39327" y="2267712"/>
            <a:ext cx="1600200" cy="2880360"/>
          </a:xfrm>
          <a:prstGeom prst="roundRect">
            <a:avLst/>
          </a:prstGeom>
          <a:solidFill>
            <a:srgbClr val="050A1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97112" y="2423160"/>
            <a:ext cx="475488" cy="54864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13648" y="276148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Aptos"/>
              </a:defRPr>
            </a:pPr>
            <a:r>
              <a:t>BANK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227832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1F5F9"/>
                </a:solidFill>
                <a:latin typeface="Aptos"/>
              </a:defRPr>
            </a:pPr>
            <a:r>
              <a:t>OTP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3675887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ptos"/>
              </a:defRPr>
            </a:pPr>
            <a:r>
              <a:t>•••• 4821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4251960"/>
            <a:ext cx="914400" cy="64008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3799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50A1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496519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2C55E"/>
                </a:solidFill>
                <a:latin typeface="Aptos"/>
              </a:defRPr>
            </a:pPr>
            <a:r>
              <a:t>PROTECTED</a:t>
            </a:r>
          </a:p>
        </p:txBody>
      </p:sp>
      <p:sp>
        <p:nvSpPr>
          <p:cNvPr id="33" name="Oval 32"/>
          <p:cNvSpPr/>
          <p:nvPr/>
        </p:nvSpPr>
        <p:spPr>
          <a:xfrm>
            <a:off x="7726679" y="2670048"/>
            <a:ext cx="2057400" cy="2057400"/>
          </a:xfrm>
          <a:prstGeom prst="ellipse">
            <a:avLst/>
          </a:prstGeom>
          <a:solidFill>
            <a:srgbClr val="0D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09560" y="2670048"/>
            <a:ext cx="1691640" cy="1691640"/>
          </a:xfrm>
          <a:prstGeom prst="ellipse">
            <a:avLst/>
          </a:prstGeom>
          <a:solidFill>
            <a:srgbClr val="0D172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92440" y="2670048"/>
            <a:ext cx="1325880" cy="1325880"/>
          </a:xfrm>
          <a:prstGeom prst="ellipse">
            <a:avLst/>
          </a:prstGeom>
          <a:solidFill>
            <a:srgbClr val="0D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5320" y="2852928"/>
            <a:ext cx="1737360" cy="1737360"/>
          </a:xfrm>
          <a:prstGeom prst="ellipse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34930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  <a:latin typeface="Aptos"/>
              </a:defRPr>
            </a:pPr>
            <a:r>
              <a:t>SHIELD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2084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24612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66344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608076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1323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THE SILENT ATTACK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2984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A recycled number creates an identity mismatch across telecom and banking.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3840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4320"/>
            <a:ext cx="73152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4A3B8"/>
                </a:solidFill>
                <a:latin typeface="Aptos"/>
              </a:defRPr>
            </a:pPr>
            <a:r>
              <a:t>BANK NUMBERSHIELD  •  BANKING IDENTITY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194560"/>
            <a:ext cx="2011680" cy="1325880"/>
          </a:xfrm>
          <a:prstGeom prst="roundRect">
            <a:avLst/>
          </a:prstGeom>
          <a:solidFill>
            <a:srgbClr val="0D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" y="2395728"/>
            <a:ext cx="438912" cy="43891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496312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0A1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235915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Aptos"/>
              </a:defRPr>
            </a:pPr>
            <a:r>
              <a:t>TELCO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Aptos"/>
              </a:defRPr>
            </a:pPr>
            <a:r>
              <a:t>Deactivated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26151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2194560"/>
            <a:ext cx="2011680" cy="1325880"/>
          </a:xfrm>
          <a:prstGeom prst="roundRect">
            <a:avLst/>
          </a:prstGeom>
          <a:solidFill>
            <a:srgbClr val="0D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47872" y="2395728"/>
            <a:ext cx="438912" cy="43891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2496312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0A1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235915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Aptos"/>
              </a:defRPr>
            </a:pPr>
            <a:r>
              <a:t>RECYCLE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Aptos"/>
              </a:defRPr>
            </a:pPr>
            <a:r>
              <a:t>Reassigned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26151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2194560"/>
            <a:ext cx="2011680" cy="1325880"/>
          </a:xfrm>
          <a:prstGeom prst="roundRect">
            <a:avLst/>
          </a:prstGeom>
          <a:solidFill>
            <a:srgbClr val="0D172A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45352" y="2395728"/>
            <a:ext cx="438912" cy="438912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2496312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0A1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235915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Aptos"/>
              </a:defRPr>
            </a:pPr>
            <a:r>
              <a:t>NEW 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Aptos"/>
              </a:defRPr>
            </a:pPr>
            <a:r>
              <a:t>Owns SIM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26151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2194560"/>
            <a:ext cx="2011680" cy="1325880"/>
          </a:xfrm>
          <a:prstGeom prst="roundRect">
            <a:avLst/>
          </a:prstGeom>
          <a:solidFill>
            <a:srgbClr val="0D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42832" y="2395728"/>
            <a:ext cx="438912" cy="43891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42832" y="2496312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0A1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235915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Aptos"/>
              </a:defRPr>
            </a:pPr>
            <a:r>
              <a:t>BANK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2832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Aptos"/>
              </a:defRPr>
            </a:pPr>
            <a:r>
              <a:t>OTP / UPI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434840"/>
            <a:ext cx="3154680" cy="1143000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" y="4645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Aptos"/>
              </a:defRPr>
            </a:pPr>
            <a:r>
              <a:t>ACCOUNT TAKEOVER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" y="50109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Reset credentials / receive OTPs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0" y="4434840"/>
            <a:ext cx="3154680" cy="1143000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70831" y="4645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Aptos"/>
              </a:defRPr>
            </a:pPr>
            <a:r>
              <a:t>UPI EXPOSURE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0831" y="50109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Number-linked payment identity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26679" y="4434840"/>
            <a:ext cx="3154680" cy="1143000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1271" y="4645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Aptos"/>
              </a:defRPr>
            </a:pPr>
            <a:r>
              <a:t>FRAUD OPERATIONS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1271" y="50109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Investigation + recovery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2084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24612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66344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608076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1323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FROM SIGNAL TO SHIELD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2984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Five automated decisions turn a telecom event into a controlled banking response.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3840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4320"/>
            <a:ext cx="73152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4A3B8"/>
                </a:solidFill>
                <a:latin typeface="Aptos"/>
              </a:defRPr>
            </a:pPr>
            <a:r>
              <a:t>BANK NUMBERSHIELD  •  BANKING IDENTITY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148840"/>
            <a:ext cx="1874519" cy="1920240"/>
          </a:xfrm>
          <a:prstGeom prst="roundRect">
            <a:avLst/>
          </a:prstGeom>
          <a:solidFill>
            <a:srgbClr val="0D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591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SIM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907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2148840"/>
            <a:ext cx="1874519" cy="1920240"/>
          </a:xfrm>
          <a:prstGeom prst="roundRect">
            <a:avLst/>
          </a:prstGeom>
          <a:solidFill>
            <a:srgbClr val="0D172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9232" y="23591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33375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Velocity +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2907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8B5CF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02352" y="2148840"/>
            <a:ext cx="1874519" cy="1920240"/>
          </a:xfrm>
          <a:prstGeom prst="roundRect">
            <a:avLst/>
          </a:prstGeom>
          <a:solidFill>
            <a:srgbClr val="0D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4" y="23591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Aptos"/>
              </a:defRPr>
            </a:pPr>
            <a:r>
              <a:t>CONTAIN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3375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OTP / UPI / cards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4" y="2907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EF444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70063" y="2148840"/>
            <a:ext cx="1874519" cy="1920240"/>
          </a:xfrm>
          <a:prstGeom prst="roundRect">
            <a:avLst/>
          </a:prstGeom>
          <a:solidFill>
            <a:srgbClr val="0D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5" y="23591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34655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655" y="33375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Verify identity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5" y="2907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59E0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37776" y="2148840"/>
            <a:ext cx="1874519" cy="1920240"/>
          </a:xfrm>
          <a:prstGeom prst="roundRect">
            <a:avLst/>
          </a:prstGeom>
          <a:solidFill>
            <a:srgbClr val="0D172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02367" y="23591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7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Aptos"/>
              </a:defRPr>
            </a:pPr>
            <a:r>
              <a:t>RESTORE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02367" y="33375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Re-register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617720"/>
            <a:ext cx="10698480" cy="822960"/>
          </a:xfrm>
          <a:prstGeom prst="roundRect">
            <a:avLst/>
          </a:prstGeom>
          <a:solidFill>
            <a:srgbClr val="1321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855464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CORE PROMISE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478231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Aptos"/>
              </a:defRPr>
            </a:pPr>
            <a:r>
              <a:t>The old number loses banking privileges before it can become the attacker's shortcut.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2084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24612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66344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608076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1323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ONE CORE. TWO EXPERIENCES.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2984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Separate operational power from customer recovery while keeping one policy engine.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3840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4320"/>
            <a:ext cx="73152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4A3B8"/>
                </a:solidFill>
                <a:latin typeface="Aptos"/>
              </a:defRPr>
            </a:pPr>
            <a:r>
              <a:t>BANK NUMBERSHIELD  •  BANKING IDENTITY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148840"/>
            <a:ext cx="3063240" cy="3337560"/>
          </a:xfrm>
          <a:prstGeom prst="roundRect">
            <a:avLst/>
          </a:prstGeom>
          <a:solidFill>
            <a:srgbClr val="0D172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423160"/>
            <a:ext cx="914400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478024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0A16"/>
                </a:solidFill>
                <a:latin typeface="Aptos"/>
              </a:defRPr>
            </a:pPr>
            <a:r>
              <a:t>BANK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07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Aptos"/>
              </a:defRPr>
            </a:pPr>
            <a:r>
              <a:t>OPERATIONS CONSOLE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474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●  Live event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931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●  RBAC + overrides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3891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●  Case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46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●  CSAT 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606040"/>
            <a:ext cx="3657600" cy="2468880"/>
          </a:xfrm>
          <a:prstGeom prst="roundRect">
            <a:avLst/>
          </a:prstGeom>
          <a:solidFill>
            <a:srgbClr val="1321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9718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Aptos"/>
              </a:defRPr>
            </a:pPr>
            <a:r>
              <a:t>NUMBER SHIELD</a:t>
            </a:r>
            <a:br/>
            <a:r>
              <a:t>CORE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85876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ptos"/>
              </a:defRPr>
            </a:pPr>
            <a:r>
              <a:t>EVENT BUS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245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ptos"/>
              </a:defRPr>
            </a:pPr>
            <a:r>
              <a:t>RISK ENGINE  •  POLICY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2148840"/>
            <a:ext cx="3063240" cy="3337560"/>
          </a:xfrm>
          <a:prstGeom prst="roundRect">
            <a:avLst/>
          </a:prstGeom>
          <a:solidFill>
            <a:srgbClr val="0D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0" y="2423160"/>
            <a:ext cx="91440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23376" y="2478024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0A16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907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Aptos"/>
              </a:defRPr>
            </a:pPr>
            <a:r>
              <a:t>RECOVERY PORTAL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3474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●  15-min session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4232" y="3931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●  Alternate 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4232" y="43891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●  Re-register number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4232" y="4846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●  Card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5204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1272" y="35204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Aptos"/>
              </a:defRPr>
            </a:pPr>
            <a:r>
              <a:t>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2084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24612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66344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608076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1323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SECURITY BUILT INTO EVERY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2984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The platform is designed around encryption, tokenization, transport security and auditable APIs.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3840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4320"/>
            <a:ext cx="73152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4A3B8"/>
                </a:solidFill>
                <a:latin typeface="Aptos"/>
              </a:defRPr>
            </a:pPr>
            <a:r>
              <a:t>BANK NUMBERSHIELD  •  BANKING IDENTITY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148840"/>
            <a:ext cx="2423160" cy="1234440"/>
          </a:xfrm>
          <a:prstGeom prst="roundRect">
            <a:avLst/>
          </a:prstGeom>
          <a:solidFill>
            <a:srgbClr val="0D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39572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Aptos"/>
              </a:defRPr>
            </a:pPr>
            <a:r>
              <a:t>AES-256-GCM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8163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Encrypt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2148840"/>
            <a:ext cx="2423160" cy="1234440"/>
          </a:xfrm>
          <a:prstGeom prst="roundRect">
            <a:avLst/>
          </a:prstGeom>
          <a:solidFill>
            <a:srgbClr val="0D172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39572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Aptos"/>
              </a:defRPr>
            </a:pPr>
            <a:r>
              <a:t>FPE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8163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Minimize exposure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2148840"/>
            <a:ext cx="2423160" cy="1234440"/>
          </a:xfrm>
          <a:prstGeom prst="roundRect">
            <a:avLst/>
          </a:prstGeom>
          <a:solidFill>
            <a:srgbClr val="0D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239572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ptos"/>
              </a:defRPr>
            </a:pPr>
            <a:r>
              <a:t>TLS 1.3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8163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Protect transit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148840"/>
            <a:ext cx="2423160" cy="1234440"/>
          </a:xfrm>
          <a:prstGeom prst="roundRect">
            <a:avLst/>
          </a:prstGeom>
          <a:solidFill>
            <a:srgbClr val="0D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39572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Aptos"/>
              </a:defRPr>
            </a:pPr>
            <a:r>
              <a:t>LUHN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8163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Validate payment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886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API SURFACE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15968"/>
            <a:ext cx="3291840" cy="59436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45312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Aptos"/>
              </a:defRPr>
            </a:pPr>
            <a:r>
              <a:t>/employee-login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445312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STAFF AUTH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4315968"/>
            <a:ext cx="3291840" cy="59436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3128" y="445312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Aptos"/>
              </a:defRPr>
            </a:pPr>
            <a:r>
              <a:t>/sim-events/feed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45312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LIVE FEED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73568" y="4315968"/>
            <a:ext cx="3291840" cy="59436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0728" y="445312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Aptos"/>
              </a:defRPr>
            </a:pPr>
            <a:r>
              <a:t>/sim-events/trigger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30968" y="445312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WEBHOOK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120640"/>
            <a:ext cx="3291840" cy="59436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525780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Aptos"/>
              </a:defRPr>
            </a:pPr>
            <a:r>
              <a:t>/account/reregister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15768" y="525780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15968" y="5120640"/>
            <a:ext cx="3291840" cy="59436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53128" y="525780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Aptos"/>
              </a:defRPr>
            </a:pPr>
            <a:r>
              <a:t>/account/card-controls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525780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CONTAIN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2084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24612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66344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608076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1323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TRUST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2984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Security controls are embedded in the product instead of being added after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3840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4320"/>
            <a:ext cx="73152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4A3B8"/>
                </a:solidFill>
                <a:latin typeface="Aptos"/>
              </a:defRPr>
            </a:pPr>
            <a:r>
              <a:t>BANK NUMBERSHIELD  •  BANKING IDENTITY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240280"/>
            <a:ext cx="2423160" cy="1874519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2487168"/>
            <a:ext cx="457200" cy="4572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61518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0A1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24871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"/>
              </a:defRPr>
            </a:pPr>
            <a:r>
              <a:t>RBI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246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ptos"/>
              </a:defRPr>
            </a:pPr>
            <a:r>
              <a:t>Cyber security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2240280"/>
            <a:ext cx="2423160" cy="1874519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84448" y="2487168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261518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0A1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7" y="24871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"/>
              </a:defRPr>
            </a:pPr>
            <a:r>
              <a:t>PCI DSS 4.0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3246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ptos"/>
              </a:defRPr>
            </a:pPr>
            <a:r>
              <a:t>Tokenization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240280"/>
            <a:ext cx="2423160" cy="1874519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27648" y="2487168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261518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0A1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24871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"/>
              </a:defRPr>
            </a:pPr>
            <a:r>
              <a:t>UIDAI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246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ptos"/>
              </a:defRPr>
            </a:pPr>
            <a:r>
              <a:t>Protected references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2240280"/>
            <a:ext cx="2423160" cy="1874519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70848" y="2487168"/>
            <a:ext cx="457200" cy="45720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0848" y="261518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0A1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8" y="24871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"/>
              </a:defRPr>
            </a:pPr>
            <a:r>
              <a:t>DPDP / GDPR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3246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ptos"/>
              </a:defRPr>
            </a:pPr>
            <a:r>
              <a:t>Minimization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617720"/>
            <a:ext cx="10561320" cy="77724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8554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CONTROL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47731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"/>
              </a:defRPr>
            </a:pPr>
            <a:r>
              <a:t>Authorized data  •  Defined purpose  •  Least privilege  •  Audit trail  •  Retention limits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2084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24612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66344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608076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EXECUTIVE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1323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FOUR NUMBERS THAT DEFINE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2984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Measure speed, prevention, recovery and customer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3840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4320"/>
            <a:ext cx="73152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4A3B8"/>
                </a:solidFill>
                <a:latin typeface="Aptos"/>
              </a:defRPr>
            </a:pPr>
            <a:r>
              <a:t>BANK NUMBERSHIELD  •  BANKING IDENTITY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103120"/>
            <a:ext cx="2423160" cy="2057400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54203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D3EE"/>
                </a:solidFill>
                <a:latin typeface="Aptos"/>
              </a:defRPr>
            </a:pPr>
            <a:r>
              <a:t>&lt; 42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ptos"/>
              </a:defRPr>
            </a:pPr>
            <a:r>
              <a:t>Average deregistration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4992" y="2103120"/>
            <a:ext cx="2423160" cy="2057400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54203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Aptos"/>
              </a:defRPr>
            </a:pPr>
            <a:r>
              <a:t>99.9%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461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ptos"/>
              </a:defRPr>
            </a:pPr>
            <a:r>
              <a:t>Target incident reduction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08192" y="2103120"/>
            <a:ext cx="2423160" cy="2057400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254203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Aptos"/>
              </a:defRPr>
            </a:pPr>
            <a:r>
              <a:t>&gt; 85%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32461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ptos"/>
              </a:defRPr>
            </a:pPr>
            <a:r>
              <a:t>Self-service recovery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1392" y="2103120"/>
            <a:ext cx="2423160" cy="2057400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254203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Aptos"/>
              </a:defRPr>
            </a:pPr>
            <a:r>
              <a:t>4.8 /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2461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ptos"/>
              </a:defRPr>
            </a:pPr>
            <a:r>
              <a:t>Target CSAT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526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5-MONTH PILOT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19472"/>
            <a:ext cx="1645920" cy="68580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0566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ptos"/>
              </a:defRPr>
            </a:pPr>
            <a:r>
              <a:t>M1</a:t>
            </a:r>
            <a:br/>
            <a:r>
              <a:t>INGEST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0864" y="509320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07208" y="4919472"/>
            <a:ext cx="1645920" cy="68580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52928" y="50566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ptos"/>
              </a:defRPr>
            </a:pPr>
            <a:r>
              <a:t>M2</a:t>
            </a:r>
            <a:br/>
            <a:r>
              <a:t>CBS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9704" y="509320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56048" y="4919472"/>
            <a:ext cx="1645920" cy="68580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01768" y="50566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ptos"/>
              </a:defRPr>
            </a:pPr>
            <a:r>
              <a:t>M3</a:t>
            </a:r>
            <a:br/>
            <a:r>
              <a:t>RECOVERY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544" y="509320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04888" y="4919472"/>
            <a:ext cx="1645920" cy="68580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50608" y="50566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ptos"/>
              </a:defRPr>
            </a:pPr>
            <a:r>
              <a:t>M4</a:t>
            </a:r>
            <a:br/>
            <a:r>
              <a:t>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509320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53728" y="4919472"/>
            <a:ext cx="1645920" cy="685800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9448" y="50566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ptos"/>
              </a:defRPr>
            </a:pPr>
            <a:r>
              <a:t>M5</a:t>
            </a:r>
            <a:br/>
            <a:r>
              <a:t>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2084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24612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66344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608076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CUSTOMER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1323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THE 60-SECOND CUSTOMER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2984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The customer should experience protection, not panic.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3840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4320"/>
            <a:ext cx="73152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4A3B8"/>
                </a:solidFill>
                <a:latin typeface="Aptos"/>
              </a:defRPr>
            </a:pPr>
            <a:r>
              <a:t>BANK NUMBERSHIELD  •  BANKING IDENTITY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240280"/>
            <a:ext cx="1874519" cy="2240280"/>
          </a:xfrm>
          <a:prstGeom prst="roundRect">
            <a:avLst/>
          </a:prstGeom>
          <a:solidFill>
            <a:srgbClr val="0D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07007" y="2487168"/>
            <a:ext cx="594360" cy="59436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7" y="267004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0A1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3375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D3EE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67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Aptos"/>
              </a:defRPr>
            </a:pPr>
            <a:r>
              <a:t>Number reallocated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2240280"/>
            <a:ext cx="1874519" cy="2240280"/>
          </a:xfrm>
          <a:prstGeom prst="roundRect">
            <a:avLst/>
          </a:prstGeom>
          <a:solidFill>
            <a:srgbClr val="0D172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74720" y="2487168"/>
            <a:ext cx="594360" cy="59436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67004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0A1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3375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3767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Aptos"/>
              </a:defRPr>
            </a:pPr>
            <a:r>
              <a:t>Mismatch detected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02352" y="2240280"/>
            <a:ext cx="1874519" cy="2240280"/>
          </a:xfrm>
          <a:prstGeom prst="roundRect">
            <a:avLst/>
          </a:prstGeom>
          <a:solidFill>
            <a:srgbClr val="0D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42432" y="2487168"/>
            <a:ext cx="594360" cy="59436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2432" y="267004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0A1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33375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Aptos"/>
              </a:defRPr>
            </a:pPr>
            <a:r>
              <a:t>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3767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Aptos"/>
              </a:defRPr>
            </a:pPr>
            <a:r>
              <a:t>High-risk actions restricted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70063" y="2240280"/>
            <a:ext cx="1874519" cy="2240280"/>
          </a:xfrm>
          <a:prstGeom prst="roundRect">
            <a:avLst/>
          </a:prstGeom>
          <a:solidFill>
            <a:srgbClr val="0D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10143" y="2487168"/>
            <a:ext cx="594360" cy="59436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0143" y="267004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0A1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7223" y="33375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3767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Aptos"/>
              </a:defRPr>
            </a:pPr>
            <a:r>
              <a:t>Alternate contact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37776" y="2240280"/>
            <a:ext cx="1874519" cy="2240280"/>
          </a:xfrm>
          <a:prstGeom prst="roundRect">
            <a:avLst/>
          </a:prstGeom>
          <a:solidFill>
            <a:srgbClr val="0D172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77855" y="2487168"/>
            <a:ext cx="594360" cy="59436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77855" y="267004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0A1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74936" y="33375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Aptos"/>
              </a:defRPr>
            </a:pPr>
            <a:r>
              <a:t>RESTORE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7" y="3767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Aptos"/>
              </a:defRPr>
            </a:pPr>
            <a:r>
              <a:t>New number registered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892040"/>
            <a:ext cx="10652760" cy="658368"/>
          </a:xfrm>
          <a:prstGeom prst="roundRect">
            <a:avLst/>
          </a:prstGeom>
          <a:solidFill>
            <a:srgbClr val="13213A"/>
          </a:solidFill>
          <a:ln>
            <a:solidFill>
              <a:srgbClr val="13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END 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020056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Attacker loses the old number's privileges. Customer keeps control of the account.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2084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1810512"/>
            <a:ext cx="9144" cy="4297680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24612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66344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6080760"/>
            <a:ext cx="10698480" cy="9144"/>
          </a:xfrm>
          <a:prstGeom prst="rect">
            <a:avLst/>
          </a:prstGeom>
          <a:solidFill>
            <a:srgbClr val="1F314E"/>
          </a:solidFill>
          <a:ln>
            <a:solidFill>
              <a:srgbClr val="1F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1323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PROTECT THE NUMBER. PROTECT THE ACCOUNT.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2984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Approve a controlled 5-month pilot and validate the security outcome with real operational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3840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4320"/>
            <a:ext cx="73152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4A3B8"/>
                </a:solidFill>
                <a:latin typeface="Aptos"/>
              </a:defRPr>
            </a:pPr>
            <a:r>
              <a:t>BANK NUMBERSHIELD  •  BANKING IDENTITY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103120"/>
            <a:ext cx="6583680" cy="3063240"/>
          </a:xfrm>
          <a:prstGeom prst="roundRect">
            <a:avLst/>
          </a:prstGeom>
          <a:solidFill>
            <a:srgbClr val="1321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4231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THE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5806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1F5F9"/>
                </a:solidFill>
                <a:latin typeface="Aptos"/>
              </a:defRPr>
            </a:pPr>
            <a:r>
              <a:t>Pilot the event-driven protection layer across telecom signal ingestion, banking controls and customer recovery.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51960"/>
            <a:ext cx="1325880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06824"/>
            <a:ext cx="1252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0A16"/>
                </a:solidFill>
                <a:latin typeface="Aptos"/>
              </a:defRPr>
            </a:pPr>
            <a:r>
              <a:t>5-MONTH PILOT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95728" y="4251960"/>
            <a:ext cx="1097280" cy="310896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32304" y="4306824"/>
            <a:ext cx="102412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0A16"/>
                </a:solidFill>
                <a:latin typeface="Aptos"/>
              </a:defRPr>
            </a:pPr>
            <a:r>
              <a:t>AUDITABLE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2103120"/>
            <a:ext cx="3474720" cy="3063240"/>
          </a:xfrm>
          <a:prstGeom prst="roundRect">
            <a:avLst/>
          </a:prstGeom>
          <a:solidFill>
            <a:srgbClr val="0D172A"/>
          </a:solidFill>
          <a:ln>
            <a:solidFill>
              <a:srgbClr val="0D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4871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063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Aptos"/>
              </a:defRPr>
            </a:pPr>
            <a:r>
              <a:t>localhost:8000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520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ptos"/>
              </a:defRPr>
            </a:pPr>
            <a:r>
              <a:t>presentation.html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251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